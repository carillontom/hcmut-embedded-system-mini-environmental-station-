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71" r:id="rId10"/>
    <p:sldId id="272" r:id="rId11"/>
    <p:sldId id="260" r:id="rId12"/>
    <p:sldId id="273" r:id="rId13"/>
    <p:sldId id="275" r:id="rId14"/>
    <p:sldId id="276" r:id="rId15"/>
    <p:sldId id="277" r:id="rId16"/>
    <p:sldId id="278" r:id="rId17"/>
    <p:sldId id="262" r:id="rId18"/>
    <p:sldId id="264" r:id="rId19"/>
    <p:sldId id="279" r:id="rId20"/>
  </p:sldIdLst>
  <p:sldSz cx="9144000" cy="5143500" type="screen16x9"/>
  <p:notesSz cx="5143500" cy="9144000"/>
  <p:embeddedFontLst>
    <p:embeddedFont>
      <p:font typeface="Arimo" panose="020B0604020202020204" charset="0"/>
      <p:regular r:id="rId22"/>
    </p:embeddedFont>
  </p:embeddedFont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514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4C42A-ABE4-32DE-E821-C2629560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04782-B9D7-4415-F40A-F77725BBC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76F51-D07E-7752-888E-79282368B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F0FB8-2104-DFCE-B48E-0D4A504271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98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88223-970F-EB2A-F53D-8FE5F50C3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268BC-A9AA-05AE-FBB9-DA5B8C4BE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0E557-BD84-C7A5-5FF1-3DEABFDEB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13C12-DBFE-1619-61B6-AB04B189A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15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5F70-415E-B685-EF00-C1C05ABC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28178-0F5C-9AA1-9E03-50E3E7924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E3E32-95E8-AF16-E3AB-233516CA2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58F9A-3829-F95A-A36A-B6282B397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61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F5F0-7C7D-2E3D-C79A-8C776845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DF350-0B86-65A1-2535-C23E964A2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BE5B6-95EF-2883-876E-9B0ADBAAE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0662C-AE73-A651-2328-A66D6C1E5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04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B597-4E23-CFA7-F7A9-8ABDF4A6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7C10D-0D53-2E19-8E9B-30C356BB4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BE200-82A9-031F-0C1B-910083FB7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72FD9-7211-702A-7EA8-AA307F4A9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70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7EFE-8B35-83BD-44D1-D1E9E045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11201-C2D4-583E-1152-A39E10FE8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B5D20-05D7-9C0D-04D9-A3ADADACF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7B28C-F8B4-5DF8-10BE-609E0C6F6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48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44F7-6BD8-FD16-7159-291587199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A855A-F5C7-8309-CA33-63CB1F9C0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A2C7C-C381-229A-BA4B-76276BF11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E6485-2493-60A7-81FC-CE67E1911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24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6A23D-FDE9-511F-8CAD-33830E4F4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92709-EE1B-034E-7223-EDE53EDAB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13650-EBD7-BB9A-0250-139770F65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269A1-39F3-F324-CA51-CA02DD544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403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F7800-32F2-52D6-4A4D-2FC8C6BF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BCA52-CCAC-96F0-9EF4-4FAF9A204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A84B4-43DC-94E4-913B-67AB0645E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A7229-7A3F-48BC-DDF2-EBC67B25A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44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FE995-36DE-17F2-C925-CDC407D4C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F0EFB-D6ED-4ABE-8B15-5F3622ECC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B3F69-D32B-D36E-97C6-1F9192095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B0D29-04D1-AB4E-D4B4-CD9895BB8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30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C8B5-BDEB-8BF7-21C9-22301E21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7EF31-E40A-DAB8-6A71-FD66CB457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26389-1F74-1DFD-483F-5FF5F6E2D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F6DB9-C059-9B62-1FA4-AA935B57B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68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1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GwvQwB3FSA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youtu.be/eYzAX3KRrvM" TargetMode="External"/><Relationship Id="rId4" Type="http://schemas.openxmlformats.org/officeDocument/2006/relationships/hyperlink" Target="https://youtu.be/L1KeKjgLLEk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5" y="949752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Mini Environmental Monitoring Station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4" y="1961108"/>
            <a:ext cx="4667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Embedded System Design — Final Project Presentation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3575" y="2519143"/>
            <a:ext cx="3055303" cy="342450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8061F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3"/>
          <p:cNvSpPr/>
          <p:nvPr/>
        </p:nvSpPr>
        <p:spPr>
          <a:xfrm>
            <a:off x="618079" y="2620564"/>
            <a:ext cx="191497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Instructor: MSc. Bui Quoc Bao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EA50BD9-34C6-4E8E-943C-E7DACEBF8C8D}"/>
              </a:ext>
            </a:extLst>
          </p:cNvPr>
          <p:cNvSpPr/>
          <p:nvPr/>
        </p:nvSpPr>
        <p:spPr>
          <a:xfrm>
            <a:off x="523572" y="3086694"/>
            <a:ext cx="4048428" cy="1654864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8061F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B69A35-F1AA-5A41-B7A6-87B2E6649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384378"/>
              </p:ext>
            </p:extLst>
          </p:nvPr>
        </p:nvGraphicFramePr>
        <p:xfrm>
          <a:off x="588183" y="3180238"/>
          <a:ext cx="3889734" cy="14833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387937">
                  <a:extLst>
                    <a:ext uri="{9D8B030D-6E8A-4147-A177-3AD203B41FA5}">
                      <a16:colId xmlns:a16="http://schemas.microsoft.com/office/drawing/2014/main" val="506862410"/>
                    </a:ext>
                  </a:extLst>
                </a:gridCol>
                <a:gridCol w="1501797">
                  <a:extLst>
                    <a:ext uri="{9D8B030D-6E8A-4147-A177-3AD203B41FA5}">
                      <a16:colId xmlns:a16="http://schemas.microsoft.com/office/drawing/2014/main" val="896810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823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Pham Thanh Vinh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2351075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256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Pham Hong An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2310188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179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 Chi Dung 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2351016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11148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30920C3B-6D99-79EB-2C19-82535D42B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32197"/>
            <a:ext cx="435262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Presentation Contents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71427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2006650"/>
            <a:ext cx="3973637" cy="1905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523577" y="211953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46786" y="1771427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46786" y="2006650"/>
            <a:ext cx="3973637" cy="1905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4646786" y="2119536"/>
            <a:ext cx="213441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Requirements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3577" y="2601218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3577" y="2836441"/>
            <a:ext cx="3973637" cy="1905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523577" y="2949327"/>
            <a:ext cx="316401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 &amp; Hardware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6786" y="2601218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46786" y="2836441"/>
            <a:ext cx="3973637" cy="1905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4646786" y="2949327"/>
            <a:ext cx="217750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Firmware Architecture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3577" y="3431009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577" y="3666232"/>
            <a:ext cx="3973637" cy="1905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523577" y="3779118"/>
            <a:ext cx="196780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Integration &amp; Testing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6786" y="3431009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06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46786" y="3666232"/>
            <a:ext cx="3973637" cy="1905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4646786" y="3779118"/>
            <a:ext cx="190165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Demo </a:t>
            </a:r>
          </a:p>
          <a:p>
            <a:pPr marL="0" indent="0" algn="l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377C42-35F5-4F04-4182-B858E3B0CABA}"/>
              </a:ext>
            </a:extLst>
          </p:cNvPr>
          <p:cNvSpPr/>
          <p:nvPr/>
        </p:nvSpPr>
        <p:spPr>
          <a:xfrm>
            <a:off x="7926017" y="4420610"/>
            <a:ext cx="1217983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0">
            <a:extLst>
              <a:ext uri="{FF2B5EF4-FFF2-40B4-BE49-F238E27FC236}">
                <a16:creationId xmlns:a16="http://schemas.microsoft.com/office/drawing/2014/main" id="{0764F84F-A9A0-98C2-E247-8812B3DB5120}"/>
              </a:ext>
            </a:extLst>
          </p:cNvPr>
          <p:cNvSpPr/>
          <p:nvPr/>
        </p:nvSpPr>
        <p:spPr>
          <a:xfrm>
            <a:off x="4282914" y="4331160"/>
            <a:ext cx="4782294" cy="734988"/>
          </a:xfrm>
          <a:prstGeom prst="roundRect">
            <a:avLst>
              <a:gd name="adj" fmla="val 271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vi-VN" dirty="0"/>
          </a:p>
        </p:txBody>
      </p:sp>
      <p:sp>
        <p:nvSpPr>
          <p:cNvPr id="3" name="Text 0"/>
          <p:cNvSpPr/>
          <p:nvPr/>
        </p:nvSpPr>
        <p:spPr>
          <a:xfrm>
            <a:off x="4282914" y="370656"/>
            <a:ext cx="3135213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Overview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2914" y="940519"/>
            <a:ext cx="4782294" cy="734988"/>
          </a:xfrm>
          <a:prstGeom prst="roundRect">
            <a:avLst>
              <a:gd name="adj" fmla="val 271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4416115" y="1073721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Sensors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416115" y="1340793"/>
            <a:ext cx="451589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 temperature, humidity, and gas/smoke concentration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82914" y="1794123"/>
            <a:ext cx="4782294" cy="734988"/>
          </a:xfrm>
          <a:prstGeom prst="roundRect">
            <a:avLst>
              <a:gd name="adj" fmla="val 271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4416115" y="192732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Display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16115" y="2194396"/>
            <a:ext cx="451589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Show environmental information on a 16x2 LCD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82914" y="2647727"/>
            <a:ext cx="4782294" cy="734988"/>
          </a:xfrm>
          <a:prstGeom prst="roundRect">
            <a:avLst>
              <a:gd name="adj" fmla="val 271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4416115" y="2780928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Alert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16115" y="3048000"/>
            <a:ext cx="451589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Activate the buzzer when gas concentration exceeds the threshold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82914" y="3501330"/>
            <a:ext cx="4782294" cy="734988"/>
          </a:xfrm>
          <a:prstGeom prst="roundRect">
            <a:avLst>
              <a:gd name="adj" fmla="val 271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vi-VN" dirty="0"/>
          </a:p>
        </p:txBody>
      </p:sp>
      <p:sp>
        <p:nvSpPr>
          <p:cNvPr id="14" name="Text 11"/>
          <p:cNvSpPr/>
          <p:nvPr/>
        </p:nvSpPr>
        <p:spPr>
          <a:xfrm>
            <a:off x="4416115" y="3634532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Wireless transmission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16115" y="3901604"/>
            <a:ext cx="451589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Transmit data to a smartphone via Bluetooth module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16115" y="4571330"/>
            <a:ext cx="478229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Complete the full embedded workflow from design to testing, with 2 user interaction buttons.</a:t>
            </a:r>
            <a:endParaRPr lang="en-US" sz="10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F86CD9BB-BE53-0CE0-E30F-595CE566B90F}"/>
              </a:ext>
            </a:extLst>
          </p:cNvPr>
          <p:cNvSpPr/>
          <p:nvPr/>
        </p:nvSpPr>
        <p:spPr>
          <a:xfrm>
            <a:off x="4416115" y="4378522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</a:rPr>
              <a:t>User interface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513A5EC-0555-39C1-9E75-BBABAEBA5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1" y="172056"/>
            <a:ext cx="1827001" cy="13702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EB19317-4308-CB9D-8EE7-134AE9F49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16" y="593324"/>
            <a:ext cx="2039909" cy="15299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31ABD8E-D113-8212-E686-D0F36F84A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217" y="1901209"/>
            <a:ext cx="1827000" cy="13702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0D14360-25B9-2EF7-437D-E0E5D29BE6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11" b="21564"/>
          <a:stretch>
            <a:fillRect/>
          </a:stretch>
        </p:blipFill>
        <p:spPr>
          <a:xfrm flipH="1">
            <a:off x="2090417" y="2326351"/>
            <a:ext cx="2039909" cy="177676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99E280C-B00E-DA22-2B00-BC6E824F36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9008" y="3430770"/>
            <a:ext cx="1401752" cy="186900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4716" y="0"/>
            <a:ext cx="6214567" cy="394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Requirements</a:t>
            </a:r>
            <a:endParaRPr lang="en-US" sz="2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8CC34C-44EF-64B0-1FC1-A1E228A57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625" y="445163"/>
            <a:ext cx="6267576" cy="18382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63A3F9-316B-2041-0614-F1A654C44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373" y="2283408"/>
            <a:ext cx="6540079" cy="28600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0C1F5F3-63BD-EF80-AC0D-9DCA445C618E}"/>
              </a:ext>
            </a:extLst>
          </p:cNvPr>
          <p:cNvSpPr/>
          <p:nvPr/>
        </p:nvSpPr>
        <p:spPr>
          <a:xfrm>
            <a:off x="8014627" y="4438776"/>
            <a:ext cx="1068817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99C5-EF74-47AB-5BE7-F14C5779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FFE7DEF-1E09-FE7B-AAA9-4605CFDDBC9A}"/>
              </a:ext>
            </a:extLst>
          </p:cNvPr>
          <p:cNvSpPr/>
          <p:nvPr/>
        </p:nvSpPr>
        <p:spPr>
          <a:xfrm>
            <a:off x="523577" y="4310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Functional Requirements</a:t>
            </a:r>
            <a:endParaRPr lang="en-US" sz="2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1CE1C7-2451-D7E4-9BEA-778E46613E06}"/>
              </a:ext>
            </a:extLst>
          </p:cNvPr>
          <p:cNvSpPr/>
          <p:nvPr/>
        </p:nvSpPr>
        <p:spPr>
          <a:xfrm>
            <a:off x="523577" y="676337"/>
            <a:ext cx="7372963" cy="3790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 temperature in °C.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 humidity in %RH.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 gas density in approximate ppm.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Display values locally on LCD.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Send environmental data wirelessly to phone.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Activate buzzer when gas density exceeds threshold.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BUTTON_1 changes gas threshold between 660 ppm and 10 ppm.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BUTTON_2 cycles LCD display mode.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F03A55-9A52-E613-74DC-22C6EA4A18F7}"/>
              </a:ext>
            </a:extLst>
          </p:cNvPr>
          <p:cNvSpPr/>
          <p:nvPr/>
        </p:nvSpPr>
        <p:spPr>
          <a:xfrm>
            <a:off x="8053184" y="4467162"/>
            <a:ext cx="1090816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20217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272F3-9998-B26E-B0F3-9E709EC60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FCD55D8-7C9A-DC08-36D9-23B4510755DF}"/>
              </a:ext>
            </a:extLst>
          </p:cNvPr>
          <p:cNvSpPr/>
          <p:nvPr/>
        </p:nvSpPr>
        <p:spPr>
          <a:xfrm>
            <a:off x="523577" y="51677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Non - Functional Requirements</a:t>
            </a:r>
            <a:endParaRPr lang="en-US" sz="2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F9F3A3-4F5D-54D1-FE15-E6789EADA642}"/>
              </a:ext>
            </a:extLst>
          </p:cNvPr>
          <p:cNvSpPr/>
          <p:nvPr/>
        </p:nvSpPr>
        <p:spPr>
          <a:xfrm>
            <a:off x="523577" y="1031421"/>
            <a:ext cx="7372963" cy="3790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Low-cost and compact desktop device.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lvl="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Easy to use with only 2 buttons.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lvl="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Stable 5V / 3.3V power distribution.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lvl="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Readable LCD output.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lvl="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Continuous operation for normal indoor monitoring.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lvl="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Modular code structure for easy debugging and extension.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lvl="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update and quick alarm response.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5195C8-5B11-56BF-BE0A-90B1C664B69B}"/>
              </a:ext>
            </a:extLst>
          </p:cNvPr>
          <p:cNvSpPr/>
          <p:nvPr/>
        </p:nvSpPr>
        <p:spPr>
          <a:xfrm>
            <a:off x="7944184" y="4450888"/>
            <a:ext cx="1199816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420505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AFF5-19F1-B5C2-4F39-C5CA672A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3E27EC-577D-799E-1883-CBBCA59400AA}"/>
              </a:ext>
            </a:extLst>
          </p:cNvPr>
          <p:cNvSpPr/>
          <p:nvPr/>
        </p:nvSpPr>
        <p:spPr>
          <a:xfrm>
            <a:off x="603867" y="228234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System Architecture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4F9CD3C-64C7-04A7-694B-FE499ED0354B}"/>
              </a:ext>
            </a:extLst>
          </p:cNvPr>
          <p:cNvSpPr/>
          <p:nvPr/>
        </p:nvSpPr>
        <p:spPr>
          <a:xfrm>
            <a:off x="603867" y="2006377"/>
            <a:ext cx="4791699" cy="3790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Central controller: STM32F103C8T6.</a:t>
            </a:r>
            <a:endParaRPr lang="vi-VN" sz="24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lvl="0">
              <a:lnSpc>
                <a:spcPct val="250000"/>
              </a:lnSpc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vi-VN" sz="24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D3D89-042D-04A2-0B79-8E7A7E786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798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EA02-952C-D8E3-95FB-415A09DD1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3E7DA5-E828-F43D-2F82-499B37D2BAE2}"/>
              </a:ext>
            </a:extLst>
          </p:cNvPr>
          <p:cNvSpPr/>
          <p:nvPr/>
        </p:nvSpPr>
        <p:spPr>
          <a:xfrm>
            <a:off x="603867" y="228234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System Architecture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598322B-2BA0-D857-906D-A90FC814A417}"/>
              </a:ext>
            </a:extLst>
          </p:cNvPr>
          <p:cNvSpPr/>
          <p:nvPr/>
        </p:nvSpPr>
        <p:spPr>
          <a:xfrm>
            <a:off x="546790" y="1667261"/>
            <a:ext cx="3968133" cy="3790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Input blocks: MQ2, DHT11, Button 1, Button 2.</a:t>
            </a:r>
            <a:endParaRPr lang="vi-VN" sz="24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710CAC-EB43-071C-2D4E-D21A3DC36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106" y="0"/>
            <a:ext cx="3397894" cy="2548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ECA7C2-C127-A232-E636-FED7E792A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170845" y="2170344"/>
            <a:ext cx="2548419" cy="339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75363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064D-DE08-E034-9F1D-EA1A4B26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CC7E69-6CC8-9999-FFC0-36CFA4B98C39}"/>
              </a:ext>
            </a:extLst>
          </p:cNvPr>
          <p:cNvSpPr/>
          <p:nvPr/>
        </p:nvSpPr>
        <p:spPr>
          <a:xfrm>
            <a:off x="603867" y="228234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System Architecture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3B880B5-0608-021A-9271-67F982408539}"/>
              </a:ext>
            </a:extLst>
          </p:cNvPr>
          <p:cNvSpPr/>
          <p:nvPr/>
        </p:nvSpPr>
        <p:spPr>
          <a:xfrm>
            <a:off x="404031" y="1594594"/>
            <a:ext cx="4791699" cy="3790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Output blocks: LCD, Buzzer, LED, Bluetooth module.</a:t>
            </a:r>
            <a:endParaRPr lang="vi-VN" sz="24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0AB6D3-22EB-E3DE-93CF-795F55128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95" b="3522"/>
          <a:stretch>
            <a:fillRect/>
          </a:stretch>
        </p:blipFill>
        <p:spPr>
          <a:xfrm>
            <a:off x="4723391" y="225578"/>
            <a:ext cx="1992302" cy="1284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A01E68-FF6F-9839-E191-FB771E0B5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846" y="3223937"/>
            <a:ext cx="2044921" cy="15336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E08ABC-ACE0-E1B2-316E-5DBB72473F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245" t="15217" r="25658" b="14984"/>
          <a:stretch>
            <a:fillRect/>
          </a:stretch>
        </p:blipFill>
        <p:spPr>
          <a:xfrm rot="16200000">
            <a:off x="7256496" y="-158417"/>
            <a:ext cx="1284783" cy="20580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C652C3-30EE-68C4-A84E-B07B3A51F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972429" y="1345556"/>
            <a:ext cx="1494226" cy="19923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3352CE-8CBC-BA92-E7E1-907A0D2308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7125462" y="1338979"/>
            <a:ext cx="1533691" cy="20449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870E02-9C94-DAB6-73B4-2A3090EFCB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4979005" y="2968321"/>
            <a:ext cx="1533691" cy="204492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8197A5C-DBEC-8C4A-C7FF-BDB26E61BC71}"/>
              </a:ext>
            </a:extLst>
          </p:cNvPr>
          <p:cNvSpPr/>
          <p:nvPr/>
        </p:nvSpPr>
        <p:spPr>
          <a:xfrm>
            <a:off x="8048011" y="4853280"/>
            <a:ext cx="1095989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964801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2D6F-A757-BF6E-4D45-BE65D4A95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910CCF-8B12-341E-5D44-3BC56C6508C5}"/>
              </a:ext>
            </a:extLst>
          </p:cNvPr>
          <p:cNvSpPr/>
          <p:nvPr/>
        </p:nvSpPr>
        <p:spPr>
          <a:xfrm>
            <a:off x="603867" y="228234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System Architecture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76E9C9B-D503-D759-132A-9AEF2AFA568A}"/>
              </a:ext>
            </a:extLst>
          </p:cNvPr>
          <p:cNvSpPr/>
          <p:nvPr/>
        </p:nvSpPr>
        <p:spPr>
          <a:xfrm>
            <a:off x="331174" y="1511779"/>
            <a:ext cx="4955201" cy="3790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subsystem: 9V input, LM2596 to 5V, AMS1117 to 3.3V.</a:t>
            </a:r>
            <a:endParaRPr lang="vi-VN" sz="24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0F99CF-A4BF-6D70-56B6-2FA5D1658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48091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867" y="228234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Block diagram</a:t>
            </a:r>
            <a:endParaRPr lang="en-US" sz="2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AC3588-9633-F9D0-FAED-2DA831BE5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67" y="706041"/>
            <a:ext cx="8116239" cy="43655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0F2D5B-64B3-8DA9-F54F-E2B08E7BD05D}"/>
              </a:ext>
            </a:extLst>
          </p:cNvPr>
          <p:cNvSpPr/>
          <p:nvPr/>
        </p:nvSpPr>
        <p:spPr>
          <a:xfrm>
            <a:off x="8720106" y="4493277"/>
            <a:ext cx="933369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A5E40-3B13-C307-463D-0BF2168D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EDEDBE-F88D-3260-DDF9-4850864C2D99}"/>
              </a:ext>
            </a:extLst>
          </p:cNvPr>
          <p:cNvSpPr/>
          <p:nvPr/>
        </p:nvSpPr>
        <p:spPr>
          <a:xfrm>
            <a:off x="422198" y="75257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Power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1F639-FE57-DE97-2F41-B4C27D3E8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972" y="131767"/>
            <a:ext cx="6337305" cy="4879966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2EAABAF2-4DC3-310C-8E68-39DAB4A4952A}"/>
              </a:ext>
            </a:extLst>
          </p:cNvPr>
          <p:cNvSpPr/>
          <p:nvPr/>
        </p:nvSpPr>
        <p:spPr>
          <a:xfrm>
            <a:off x="422198" y="403553"/>
            <a:ext cx="2202828" cy="3790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9V adapter as input source.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LM2596 generates 5V rail.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AMS1117 generates 3.3V rail.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5V powers LCD, gas sensor module, buzzer module, Bluetooth module.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3.3V powers MCU and logic-level blocks.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82611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C0A30-E415-C391-70BE-1F85E0494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E203DB-07FB-509E-C0D4-BD1F190F5E72}"/>
              </a:ext>
            </a:extLst>
          </p:cNvPr>
          <p:cNvSpPr/>
          <p:nvPr/>
        </p:nvSpPr>
        <p:spPr>
          <a:xfrm>
            <a:off x="603867" y="228234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Main schematic – Power supply</a:t>
            </a:r>
            <a:endParaRPr lang="en-US" sz="2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818A8-98E2-EC3A-8FFD-917B5884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862" y="666118"/>
            <a:ext cx="7067162" cy="442287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DEE5B9-86F4-DE0A-3A37-8A259D99E2D4}"/>
              </a:ext>
            </a:extLst>
          </p:cNvPr>
          <p:cNvSpPr/>
          <p:nvPr/>
        </p:nvSpPr>
        <p:spPr>
          <a:xfrm>
            <a:off x="8163024" y="4438774"/>
            <a:ext cx="933369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819513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92D5-AC2C-E5A1-B507-A40A9480C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3F995E-769A-6437-593C-51E6E479DC0C}"/>
              </a:ext>
            </a:extLst>
          </p:cNvPr>
          <p:cNvSpPr/>
          <p:nvPr/>
        </p:nvSpPr>
        <p:spPr>
          <a:xfrm>
            <a:off x="603867" y="228234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Main schematic – Main system </a:t>
            </a:r>
            <a:endParaRPr lang="en-US" sz="2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7149-9190-8C0E-46EA-123A44722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32" y="578873"/>
            <a:ext cx="7031099" cy="44955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51A1BAF-1C3D-56AF-3B17-8B63A949271A}"/>
              </a:ext>
            </a:extLst>
          </p:cNvPr>
          <p:cNvSpPr/>
          <p:nvPr/>
        </p:nvSpPr>
        <p:spPr>
          <a:xfrm>
            <a:off x="8210631" y="4493277"/>
            <a:ext cx="933369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538568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41BD-CD82-E47B-A61D-0DAD84E7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D3F353-E6A2-B37E-5054-933A0C466D97}"/>
              </a:ext>
            </a:extLst>
          </p:cNvPr>
          <p:cNvSpPr/>
          <p:nvPr/>
        </p:nvSpPr>
        <p:spPr>
          <a:xfrm>
            <a:off x="534773" y="238721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PCB Layout</a:t>
            </a:r>
            <a:endParaRPr lang="en-US" sz="2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75C5F5-F4A1-A3EF-1F7F-9BB8C301FF05}"/>
              </a:ext>
            </a:extLst>
          </p:cNvPr>
          <p:cNvSpPr/>
          <p:nvPr/>
        </p:nvSpPr>
        <p:spPr>
          <a:xfrm>
            <a:off x="8055429" y="4493277"/>
            <a:ext cx="1088571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CE342F-34FB-41A3-2178-7887257F3232}"/>
              </a:ext>
            </a:extLst>
          </p:cNvPr>
          <p:cNvGrpSpPr/>
          <p:nvPr/>
        </p:nvGrpSpPr>
        <p:grpSpPr>
          <a:xfrm>
            <a:off x="3898406" y="238721"/>
            <a:ext cx="4934573" cy="4115565"/>
            <a:chOff x="0" y="0"/>
            <a:chExt cx="9481820" cy="7273671"/>
          </a:xfrm>
        </p:grpSpPr>
        <p:sp>
          <p:nvSpPr>
            <p:cNvPr id="6" name="Freeform 26" descr="A red circuit board with blue and yellow lines  AI-generated content may be incorrect.">
              <a:extLst>
                <a:ext uri="{FF2B5EF4-FFF2-40B4-BE49-F238E27FC236}">
                  <a16:creationId xmlns:a16="http://schemas.microsoft.com/office/drawing/2014/main" id="{D755C37D-3B59-2F15-2586-9E6688A88817}"/>
                </a:ext>
              </a:extLst>
            </p:cNvPr>
            <p:cNvSpPr/>
            <p:nvPr/>
          </p:nvSpPr>
          <p:spPr>
            <a:xfrm>
              <a:off x="0" y="0"/>
              <a:ext cx="9481820" cy="7273671"/>
            </a:xfrm>
            <a:custGeom>
              <a:avLst/>
              <a:gdLst/>
              <a:ahLst/>
              <a:cxnLst/>
              <a:rect l="l" t="t" r="r" b="b"/>
              <a:pathLst>
                <a:path w="9481820" h="7273671">
                  <a:moveTo>
                    <a:pt x="0" y="0"/>
                  </a:moveTo>
                  <a:lnTo>
                    <a:pt x="9481820" y="0"/>
                  </a:lnTo>
                  <a:lnTo>
                    <a:pt x="9481820" y="7273671"/>
                  </a:lnTo>
                  <a:lnTo>
                    <a:pt x="0" y="7273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1" r="-52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7" name="Text 2">
            <a:extLst>
              <a:ext uri="{FF2B5EF4-FFF2-40B4-BE49-F238E27FC236}">
                <a16:creationId xmlns:a16="http://schemas.microsoft.com/office/drawing/2014/main" id="{167D379C-ECE2-EE28-9B33-333159257775}"/>
              </a:ext>
            </a:extLst>
          </p:cNvPr>
          <p:cNvSpPr/>
          <p:nvPr/>
        </p:nvSpPr>
        <p:spPr>
          <a:xfrm>
            <a:off x="465680" y="698361"/>
            <a:ext cx="3277791" cy="360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ts val="3251"/>
              </a:lnSpc>
              <a:spcBef>
                <a:spcPct val="0"/>
              </a:spcBef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·PCB designed in Altium.</a:t>
            </a:r>
          </a:p>
          <a:p>
            <a:pPr lvl="0">
              <a:lnSpc>
                <a:spcPts val="3251"/>
              </a:lnSpc>
              <a:spcBef>
                <a:spcPct val="0"/>
              </a:spcBef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·2D layout and 3D render completed.</a:t>
            </a:r>
          </a:p>
          <a:p>
            <a:pPr lvl="0">
              <a:lnSpc>
                <a:spcPts val="3251"/>
              </a:lnSpc>
              <a:spcBef>
                <a:spcPct val="0"/>
              </a:spcBef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·Fabricated PCB successfully received.</a:t>
            </a:r>
          </a:p>
          <a:p>
            <a:pPr lvl="0">
              <a:lnSpc>
                <a:spcPts val="3251"/>
              </a:lnSpc>
              <a:spcBef>
                <a:spcPct val="0"/>
              </a:spcBef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·Breadboard was still used for fast debugging and subsystem validation before final full deployment.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77D74C-0E88-B1F5-59CD-0A88AD20B129}"/>
              </a:ext>
            </a:extLst>
          </p:cNvPr>
          <p:cNvSpPr/>
          <p:nvPr/>
        </p:nvSpPr>
        <p:spPr>
          <a:xfrm>
            <a:off x="6085637" y="4477958"/>
            <a:ext cx="3277791" cy="360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ts val="3251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2D View</a:t>
            </a:r>
          </a:p>
        </p:txBody>
      </p:sp>
    </p:spTree>
    <p:extLst>
      <p:ext uri="{BB962C8B-B14F-4D97-AF65-F5344CB8AC3E}">
        <p14:creationId xmlns:p14="http://schemas.microsoft.com/office/powerpoint/2010/main" val="105082971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3DC2D-9DCA-8F01-AF07-0E41335A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974E60-AD53-7929-6CFA-059228F4C12E}"/>
              </a:ext>
            </a:extLst>
          </p:cNvPr>
          <p:cNvSpPr/>
          <p:nvPr/>
        </p:nvSpPr>
        <p:spPr>
          <a:xfrm>
            <a:off x="534773" y="238721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PCB Layout</a:t>
            </a:r>
            <a:endParaRPr lang="en-US" sz="2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A8122B-7424-386E-D46C-0E1666F9FACF}"/>
              </a:ext>
            </a:extLst>
          </p:cNvPr>
          <p:cNvSpPr/>
          <p:nvPr/>
        </p:nvSpPr>
        <p:spPr>
          <a:xfrm>
            <a:off x="7738189" y="4493277"/>
            <a:ext cx="1405812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D9AB308-DFDE-0324-A222-B0E8CCCD98CE}"/>
              </a:ext>
            </a:extLst>
          </p:cNvPr>
          <p:cNvGrpSpPr/>
          <p:nvPr/>
        </p:nvGrpSpPr>
        <p:grpSpPr>
          <a:xfrm>
            <a:off x="480272" y="804534"/>
            <a:ext cx="4134117" cy="3534432"/>
            <a:chOff x="0" y="0"/>
            <a:chExt cx="9701374" cy="7285228"/>
          </a:xfrm>
        </p:grpSpPr>
        <p:sp>
          <p:nvSpPr>
            <p:cNvPr id="8" name="Freeform 22" descr="A green circuit board with white text  AI-generated content may be incorrect.">
              <a:extLst>
                <a:ext uri="{FF2B5EF4-FFF2-40B4-BE49-F238E27FC236}">
                  <a16:creationId xmlns:a16="http://schemas.microsoft.com/office/drawing/2014/main" id="{F2AECFCA-32D0-ED5C-6359-7C54A0FA53D0}"/>
                </a:ext>
              </a:extLst>
            </p:cNvPr>
            <p:cNvSpPr/>
            <p:nvPr/>
          </p:nvSpPr>
          <p:spPr>
            <a:xfrm>
              <a:off x="0" y="0"/>
              <a:ext cx="9701374" cy="7285228"/>
            </a:xfrm>
            <a:custGeom>
              <a:avLst/>
              <a:gdLst/>
              <a:ahLst/>
              <a:cxnLst/>
              <a:rect l="l" t="t" r="r" b="b"/>
              <a:pathLst>
                <a:path w="10070846" h="7285228">
                  <a:moveTo>
                    <a:pt x="0" y="0"/>
                  </a:moveTo>
                  <a:lnTo>
                    <a:pt x="10070846" y="0"/>
                  </a:lnTo>
                  <a:lnTo>
                    <a:pt x="10070846" y="7285228"/>
                  </a:lnTo>
                  <a:lnTo>
                    <a:pt x="0" y="7285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05" b="-305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D2DA8E-B27B-5F6D-4459-976EFF26EC97}"/>
              </a:ext>
            </a:extLst>
          </p:cNvPr>
          <p:cNvGrpSpPr/>
          <p:nvPr/>
        </p:nvGrpSpPr>
        <p:grpSpPr>
          <a:xfrm rot="-5400000">
            <a:off x="5002028" y="596663"/>
            <a:ext cx="3534433" cy="3950168"/>
            <a:chOff x="1564141" y="8239959"/>
            <a:chExt cx="8496231" cy="9411742"/>
          </a:xfrm>
        </p:grpSpPr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D66A74F0-0365-EDD7-4241-DD10EB23D6FA}"/>
                </a:ext>
              </a:extLst>
            </p:cNvPr>
            <p:cNvSpPr/>
            <p:nvPr/>
          </p:nvSpPr>
          <p:spPr>
            <a:xfrm>
              <a:off x="1564141" y="8239959"/>
              <a:ext cx="8496231" cy="9411742"/>
            </a:xfrm>
            <a:custGeom>
              <a:avLst/>
              <a:gdLst/>
              <a:ahLst/>
              <a:cxnLst/>
              <a:rect l="l" t="t" r="r" b="b"/>
              <a:pathLst>
                <a:path w="11435080" h="15270480">
                  <a:moveTo>
                    <a:pt x="0" y="0"/>
                  </a:moveTo>
                  <a:lnTo>
                    <a:pt x="11435080" y="0"/>
                  </a:lnTo>
                  <a:lnTo>
                    <a:pt x="11435080" y="15270480"/>
                  </a:lnTo>
                  <a:lnTo>
                    <a:pt x="0" y="15270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" b="-4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3" name="Text 2">
            <a:extLst>
              <a:ext uri="{FF2B5EF4-FFF2-40B4-BE49-F238E27FC236}">
                <a16:creationId xmlns:a16="http://schemas.microsoft.com/office/drawing/2014/main" id="{9C46D0D9-E21D-2CF3-20B0-510C2981CDF1}"/>
              </a:ext>
            </a:extLst>
          </p:cNvPr>
          <p:cNvSpPr/>
          <p:nvPr/>
        </p:nvSpPr>
        <p:spPr>
          <a:xfrm>
            <a:off x="2104575" y="4394950"/>
            <a:ext cx="3277791" cy="360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ts val="3251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3D View</a:t>
            </a: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4A6C3A25-A3D5-03EE-AD59-8A4E5B6FA3ED}"/>
              </a:ext>
            </a:extLst>
          </p:cNvPr>
          <p:cNvSpPr/>
          <p:nvPr/>
        </p:nvSpPr>
        <p:spPr>
          <a:xfrm>
            <a:off x="6378902" y="4394950"/>
            <a:ext cx="3277791" cy="360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ts val="3251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Printed PCB</a:t>
            </a:r>
          </a:p>
        </p:txBody>
      </p:sp>
    </p:spTree>
    <p:extLst>
      <p:ext uri="{BB962C8B-B14F-4D97-AF65-F5344CB8AC3E}">
        <p14:creationId xmlns:p14="http://schemas.microsoft.com/office/powerpoint/2010/main" val="406064188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532" y="130246"/>
            <a:ext cx="4220468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Firmware Architecture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6075738" y="556490"/>
            <a:ext cx="2943853" cy="395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ts val="2638"/>
              </a:lnSpc>
              <a:spcBef>
                <a:spcPct val="0"/>
              </a:spcBef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·Firmware organized into two layers: BSP layer and APP layer.</a:t>
            </a:r>
          </a:p>
          <a:p>
            <a:pPr lvl="0">
              <a:lnSpc>
                <a:spcPts val="2638"/>
              </a:lnSpc>
              <a:spcBef>
                <a:spcPct val="0"/>
              </a:spcBef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·BSP contains low-level drivers for each hardware block.</a:t>
            </a:r>
          </a:p>
          <a:p>
            <a:pPr lvl="0">
              <a:lnSpc>
                <a:spcPts val="2638"/>
              </a:lnSpc>
              <a:spcBef>
                <a:spcPct val="0"/>
              </a:spcBef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·APP contains the main system logic.</a:t>
            </a:r>
          </a:p>
          <a:p>
            <a:pPr lvl="0">
              <a:lnSpc>
                <a:spcPts val="2638"/>
              </a:lnSpc>
              <a:spcBef>
                <a:spcPct val="0"/>
              </a:spcBef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sym typeface="Montserrat Bold"/>
              </a:rPr>
              <a:t>·Benefits: modularity, easier debugging, easier future extension</a:t>
            </a:r>
            <a:endParaRPr lang="en-US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A83297-16A2-E522-61D7-CA0AF1842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09" y="667037"/>
            <a:ext cx="2205506" cy="42652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70224A-4CD5-2283-CFEC-50D7BFEB0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818" y="667037"/>
            <a:ext cx="2057718" cy="43348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84548C-5248-F11B-06DA-701C244989F8}"/>
              </a:ext>
            </a:extLst>
          </p:cNvPr>
          <p:cNvSpPr/>
          <p:nvPr/>
        </p:nvSpPr>
        <p:spPr>
          <a:xfrm>
            <a:off x="7738189" y="4493277"/>
            <a:ext cx="1405812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380" y="256369"/>
            <a:ext cx="370463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Integration, Testing &amp; Results</a:t>
            </a:r>
            <a:endParaRPr lang="en-US" sz="24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EDB5C0-747B-D3A2-E227-3C0F4C65F25E}"/>
              </a:ext>
            </a:extLst>
          </p:cNvPr>
          <p:cNvSpPr txBox="1"/>
          <p:nvPr/>
        </p:nvSpPr>
        <p:spPr>
          <a:xfrm>
            <a:off x="466283" y="1017346"/>
            <a:ext cx="8047932" cy="2984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vi-VN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test: </a:t>
            </a:r>
            <a:r>
              <a:rPr lang="vi-VN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3"/>
              </a:rPr>
              <a:t>https://youtu.be/GwvQwB3FSAY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ct val="300000"/>
              </a:lnSpc>
            </a:pPr>
            <a:r>
              <a:rPr lang="vi-VN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Gas test: </a:t>
            </a:r>
            <a:r>
              <a:rPr lang="vi-VN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4"/>
              </a:rPr>
              <a:t>https://youtu.be/L1KeKjgLLEk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ct val="300000"/>
              </a:lnSpc>
            </a:pPr>
            <a:r>
              <a:rPr lang="vi-VN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Temp test: </a:t>
            </a:r>
            <a:r>
              <a:rPr lang="vi-VN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5"/>
              </a:rPr>
              <a:t>https://youtu.be/eYzAX3KRrvM</a:t>
            </a:r>
            <a:endParaRPr lang="vi-VN" sz="160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ct val="300000"/>
              </a:lnSpc>
            </a:pPr>
            <a:endParaRPr lang="vi-V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DAD095-33A9-85B8-8927-9710D1247968}"/>
              </a:ext>
            </a:extLst>
          </p:cNvPr>
          <p:cNvSpPr/>
          <p:nvPr/>
        </p:nvSpPr>
        <p:spPr>
          <a:xfrm>
            <a:off x="7738189" y="4493277"/>
            <a:ext cx="1405812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66A132-9B8D-B285-6419-36706563437F}"/>
              </a:ext>
            </a:extLst>
          </p:cNvPr>
          <p:cNvSpPr/>
          <p:nvPr/>
        </p:nvSpPr>
        <p:spPr>
          <a:xfrm>
            <a:off x="2732966" y="2571750"/>
            <a:ext cx="31396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555A-C458-DEAB-168A-DB53D5D7603D}"/>
              </a:ext>
            </a:extLst>
          </p:cNvPr>
          <p:cNvSpPr/>
          <p:nvPr/>
        </p:nvSpPr>
        <p:spPr>
          <a:xfrm>
            <a:off x="7738189" y="4493277"/>
            <a:ext cx="1405812" cy="650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570155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479</Words>
  <Application>Microsoft Office PowerPoint</Application>
  <PresentationFormat>On-screen Show (16:9)</PresentationFormat>
  <Paragraphs>108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Syne Light</vt:lpstr>
      <vt:lpstr>Arimo</vt:lpstr>
      <vt:lpstr>Arial</vt:lpstr>
      <vt:lpstr>Syne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Tommy Pham</cp:lastModifiedBy>
  <cp:revision>8</cp:revision>
  <dcterms:created xsi:type="dcterms:W3CDTF">2026-05-10T14:15:37Z</dcterms:created>
  <dcterms:modified xsi:type="dcterms:W3CDTF">2026-05-12T02:01:27Z</dcterms:modified>
</cp:coreProperties>
</file>